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tore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1234440"/>
            <a:ext cx="2651760" cy="2651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417320"/>
            <a:ext cx="804672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6000" b="1" lang="ar-BH">
                <a:solidFill>
                  <a:srgbClr val="EAF6FF"/>
                </a:solidFill>
                <a:latin typeface="Tajawal"/>
                <a:cs typeface="Tajawal"/>
              </a:rPr>
              <a:t>Sports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14600"/>
            <a:ext cx="804672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600" b="0" lang="ar-BH">
                <a:solidFill>
                  <a:srgbClr val="00E5FF"/>
                </a:solidFill>
                <a:latin typeface="Tajawal"/>
                <a:cs typeface="Tajawal"/>
              </a:rPr>
              <a:t>غرفة عمل لإدارات الأندية: الحضور والغياب، التشكيلة، تقرير المباراة، وملف اللاعب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4160520"/>
            <a:ext cx="2880360" cy="502920"/>
          </a:xfrm>
          <a:prstGeom prst="roundRect">
            <a:avLst>
              <a:gd name="adj" fmla="val 6000"/>
            </a:avLst>
          </a:prstGeom>
          <a:solidFill>
            <a:srgbClr val="2A2108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97880" y="4187952"/>
            <a:ext cx="28803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700" b="1" lang="ar-BH">
                <a:solidFill>
                  <a:srgbClr val="FFB020"/>
                </a:solidFill>
                <a:latin typeface="Tajawal"/>
                <a:cs typeface="Tajawal"/>
              </a:rPr>
              <a:t>قيد التطوير · نسخة تجريبية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80467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000" b="0" lang="ar-BH">
                <a:solidFill>
                  <a:srgbClr val="93A7BB"/>
                </a:solidFill>
                <a:latin typeface="Tajawal"/>
                <a:cs typeface="Tajawal"/>
              </a:rPr>
              <a:t>عرض للمناقشة وأخذ الرأي، مو عرض بيع.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l">
              <a:spcAft>
                <a:spcPts val="600"/>
              </a:spcAft>
            </a:pPr>
            <a:r>
              <a:rPr sz="1100" b="0" lang="ar-BH">
                <a:solidFill>
                  <a:srgbClr val="93A7BB"/>
                </a:solidFill>
                <a:latin typeface="Tajawal"/>
                <a:cs typeface="Tajawal"/>
              </a:rPr>
              <a:t>Sports Hub · قيد التطوير · نسخة تجريبية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l">
              <a:spcAft>
                <a:spcPts val="600"/>
              </a:spcAft>
            </a:pPr>
            <a:r>
              <a:rPr sz="1100" b="0" lang="ar-BH">
                <a:solidFill>
                  <a:srgbClr val="93A7BB"/>
                </a:solidFill>
                <a:latin typeface="Tajawal"/>
                <a:cs typeface="Tajaw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686032" y="475488"/>
            <a:ext cx="82296" cy="5669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84048"/>
            <a:ext cx="1065276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3400" b="1" lang="ar-BH">
                <a:solidFill>
                  <a:srgbClr val="EAF6FF"/>
                </a:solidFill>
                <a:latin typeface="Tajawal"/>
                <a:cs typeface="Tajawal"/>
              </a:rPr>
              <a:t>وين يضيع وقت إداري النادي؟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6527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700" b="0" lang="ar-BH">
                <a:solidFill>
                  <a:srgbClr val="93A7BB"/>
                </a:solidFill>
                <a:latin typeface="Tajawal"/>
                <a:cs typeface="Tajawal"/>
              </a:rPr>
              <a:t>ثلاثة أسئلة نبي نسمع جوابك عليها: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83879" y="2011680"/>
            <a:ext cx="3520440" cy="2468880"/>
          </a:xfrm>
          <a:prstGeom prst="roundRect">
            <a:avLst>
              <a:gd name="adj" fmla="val 6000"/>
            </a:avLst>
          </a:prstGeom>
          <a:solidFill>
            <a:srgbClr val="0A1220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66759" y="2194560"/>
            <a:ext cx="31546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200" b="1" lang="ar-BH">
                <a:solidFill>
                  <a:srgbClr val="00E5FF"/>
                </a:solidFill>
                <a:latin typeface="Tajawal"/>
                <a:cs typeface="Tajawal"/>
              </a:rPr>
              <a:t>الحضور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59" y="2788920"/>
            <a:ext cx="315468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700" b="0" lang="ar-BH">
                <a:solidFill>
                  <a:srgbClr val="EAF6FF"/>
                </a:solidFill>
                <a:latin typeface="Tajawal"/>
                <a:cs typeface="Tajawal"/>
              </a:rPr>
              <a:t>وين تسجّل حضور اللاعبين؟ وكيف تعرف مين يتكرر غيابه؟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011680"/>
            <a:ext cx="3520440" cy="2468880"/>
          </a:xfrm>
          <a:prstGeom prst="roundRect">
            <a:avLst>
              <a:gd name="adj" fmla="val 6000"/>
            </a:avLst>
          </a:prstGeom>
          <a:solidFill>
            <a:srgbClr val="0A1220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194560"/>
            <a:ext cx="31546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200" b="1" lang="ar-BH">
                <a:solidFill>
                  <a:srgbClr val="00E5FF"/>
                </a:solidFill>
                <a:latin typeface="Tajawal"/>
                <a:cs typeface="Tajawal"/>
              </a:rPr>
              <a:t>العقود والجاهزية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788920"/>
            <a:ext cx="315468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700" b="0" lang="ar-BH">
                <a:solidFill>
                  <a:srgbClr val="EAF6FF"/>
                </a:solidFill>
                <a:latin typeface="Tajawal"/>
                <a:cs typeface="Tajawal"/>
              </a:rPr>
              <a:t>متى تنتهي عقود اللاعبين؟ ومين مصاب أو موقوف قبل المباراة؟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011680"/>
            <a:ext cx="3520440" cy="2468880"/>
          </a:xfrm>
          <a:prstGeom prst="roundRect">
            <a:avLst>
              <a:gd name="adj" fmla="val 6000"/>
            </a:avLst>
          </a:prstGeom>
          <a:solidFill>
            <a:srgbClr val="0A1220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194560"/>
            <a:ext cx="31546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200" b="1" lang="ar-BH">
                <a:solidFill>
                  <a:srgbClr val="00E5FF"/>
                </a:solidFill>
                <a:latin typeface="Tajawal"/>
                <a:cs typeface="Tajawal"/>
              </a:rPr>
              <a:t>التقارير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788920"/>
            <a:ext cx="315468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700" b="0" lang="ar-BH">
                <a:solidFill>
                  <a:srgbClr val="EAF6FF"/>
                </a:solidFill>
                <a:latin typeface="Tajawal"/>
                <a:cs typeface="Tajawal"/>
              </a:rPr>
              <a:t>كيف توصّل ملخص التمرين والتقرير الشهري للمجموعة والمجلس؟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37760"/>
            <a:ext cx="106070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000" b="0" lang="ar-BH">
                <a:solidFill>
                  <a:srgbClr val="93A7BB"/>
                </a:solidFill>
                <a:latin typeface="Tajawal"/>
                <a:cs typeface="Tajawal"/>
              </a:rPr>
              <a:t>التطبيق مبني حول هالأسئلة. وإذا جوابك مختلف، نبي نسمعه.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l">
              <a:spcAft>
                <a:spcPts val="600"/>
              </a:spcAft>
            </a:pPr>
            <a:r>
              <a:rPr sz="1100" b="0" lang="ar-BH">
                <a:solidFill>
                  <a:srgbClr val="93A7BB"/>
                </a:solidFill>
                <a:latin typeface="Tajawal"/>
                <a:cs typeface="Tajawal"/>
              </a:rPr>
              <a:t>Sports Hub · قيد التطوير · نسخة تجريبية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l">
              <a:spcAft>
                <a:spcPts val="600"/>
              </a:spcAft>
            </a:pPr>
            <a:r>
              <a:rPr sz="1100" b="0" lang="ar-BH">
                <a:solidFill>
                  <a:srgbClr val="93A7BB"/>
                </a:solidFill>
                <a:latin typeface="Tajawal"/>
                <a:cs typeface="Tajaw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686032" y="475488"/>
            <a:ext cx="82296" cy="5669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84048"/>
            <a:ext cx="1065276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3400" b="1" lang="ar-BH">
                <a:solidFill>
                  <a:srgbClr val="EAF6FF"/>
                </a:solidFill>
                <a:latin typeface="Tajawal"/>
                <a:cs typeface="Tajawal"/>
              </a:rPr>
              <a:t>الفكرة: غرفة عمل وحدة للنادي</a:t>
            </a:r>
          </a:p>
        </p:txBody>
      </p:sp>
      <p:pic>
        <p:nvPicPr>
          <p:cNvPr id="4" name="Picture 3" descr="store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3291840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4983480"/>
            <a:ext cx="32918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500" b="0" lang="ar-BH">
                <a:solidFill>
                  <a:srgbClr val="93A7BB"/>
                </a:solidFill>
                <a:latin typeface="Tajawal"/>
                <a:cs typeface="Tajawal"/>
              </a:rPr>
              <a:t>حلقة (دائرة الملعب)، أربع عقد (أندية)، وكرة بالمنتصف.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1600200"/>
            <a:ext cx="3429000" cy="2057400"/>
          </a:xfrm>
          <a:prstGeom prst="roundRect">
            <a:avLst>
              <a:gd name="adj" fmla="val 6000"/>
            </a:avLst>
          </a:prstGeom>
          <a:solidFill>
            <a:srgbClr val="0A1220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59" y="1783080"/>
            <a:ext cx="30632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200" b="1" lang="ar-BH">
                <a:solidFill>
                  <a:srgbClr val="00E5FF"/>
                </a:solidFill>
                <a:latin typeface="Tajawal"/>
                <a:cs typeface="Tajawal"/>
              </a:rPr>
              <a:t>غرفة النادي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59" y="2377440"/>
            <a:ext cx="3063240" cy="1143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700" b="0" lang="ar-BH">
                <a:solidFill>
                  <a:srgbClr val="EAF6FF"/>
                </a:solidFill>
                <a:latin typeface="Tajawal"/>
                <a:cs typeface="Tajawal"/>
              </a:rPr>
              <a:t>«اليوم»: اللي يحتاج انتباهك الحين.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600200"/>
            <a:ext cx="3429000" cy="2057400"/>
          </a:xfrm>
          <a:prstGeom prst="roundRect">
            <a:avLst>
              <a:gd name="adj" fmla="val 6000"/>
            </a:avLst>
          </a:prstGeom>
          <a:solidFill>
            <a:srgbClr val="0A1220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783080"/>
            <a:ext cx="30632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200" b="1" lang="ar-BH">
                <a:solidFill>
                  <a:srgbClr val="00E5FF"/>
                </a:solidFill>
                <a:latin typeface="Tajawal"/>
                <a:cs typeface="Tajawal"/>
              </a:rPr>
              <a:t>الحضور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377440"/>
            <a:ext cx="3063240" cy="1143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700" b="0" lang="ar-BH">
                <a:solidFill>
                  <a:srgbClr val="EAF6FF"/>
                </a:solidFill>
                <a:latin typeface="Tajawal"/>
                <a:cs typeface="Tajawal"/>
              </a:rPr>
              <a:t>تسجيل بنقرات، نسب، جدول شهري.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3840480"/>
            <a:ext cx="3429000" cy="2057400"/>
          </a:xfrm>
          <a:prstGeom prst="roundRect">
            <a:avLst>
              <a:gd name="adj" fmla="val 6000"/>
            </a:avLst>
          </a:prstGeom>
          <a:solidFill>
            <a:srgbClr val="0A1220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59" y="4023360"/>
            <a:ext cx="30632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200" b="1" lang="ar-BH">
                <a:solidFill>
                  <a:srgbClr val="00E5FF"/>
                </a:solidFill>
                <a:latin typeface="Tajawal"/>
                <a:cs typeface="Tajawal"/>
              </a:rPr>
              <a:t>التشكيلة والمباراة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59" y="4617720"/>
            <a:ext cx="3063240" cy="1143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700" b="0" lang="ar-BH">
                <a:solidFill>
                  <a:srgbClr val="EAF6FF"/>
                </a:solidFill>
                <a:latin typeface="Tajawal"/>
                <a:cs typeface="Tajawal"/>
              </a:rPr>
              <a:t>اقتراح تشكيلة وتقرير مباراة.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3840480"/>
            <a:ext cx="3429000" cy="2057400"/>
          </a:xfrm>
          <a:prstGeom prst="roundRect">
            <a:avLst>
              <a:gd name="adj" fmla="val 6000"/>
            </a:avLst>
          </a:prstGeom>
          <a:solidFill>
            <a:srgbClr val="0A1220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4023360"/>
            <a:ext cx="30632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200" b="1" lang="ar-BH">
                <a:solidFill>
                  <a:srgbClr val="00E5FF"/>
                </a:solidFill>
                <a:latin typeface="Tajawal"/>
                <a:cs typeface="Tajawal"/>
              </a:rPr>
              <a:t>اللاعبون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617720"/>
            <a:ext cx="3063240" cy="1143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700" b="0" lang="ar-BH">
                <a:solidFill>
                  <a:srgbClr val="EAF6FF"/>
                </a:solidFill>
                <a:latin typeface="Tajawal"/>
                <a:cs typeface="Tajawal"/>
              </a:rPr>
              <a:t>ملف لاعب، تطوير، حقوق وبيانات.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l">
              <a:spcAft>
                <a:spcPts val="600"/>
              </a:spcAft>
            </a:pPr>
            <a:r>
              <a:rPr sz="1100" b="0" lang="ar-BH">
                <a:solidFill>
                  <a:srgbClr val="93A7BB"/>
                </a:solidFill>
                <a:latin typeface="Tajawal"/>
                <a:cs typeface="Tajawal"/>
              </a:rPr>
              <a:t>Sports Hub · قيد التطوير · نسخة تجريبية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l">
              <a:spcAft>
                <a:spcPts val="600"/>
              </a:spcAft>
            </a:pPr>
            <a:r>
              <a:rPr sz="1100" b="0" lang="ar-BH">
                <a:solidFill>
                  <a:srgbClr val="93A7BB"/>
                </a:solidFill>
                <a:latin typeface="Tajawal"/>
                <a:cs typeface="Tajaw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686032" y="475488"/>
            <a:ext cx="82296" cy="5669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84048"/>
            <a:ext cx="1065276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3400" b="1" lang="ar-BH">
                <a:solidFill>
                  <a:srgbClr val="EAF6FF"/>
                </a:solidFill>
                <a:latin typeface="Tajawal"/>
                <a:cs typeface="Tajawal"/>
              </a:rPr>
              <a:t>غرفة النادي تفتح على «اليوم»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6527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700" b="0" lang="ar-BH">
                <a:solidFill>
                  <a:srgbClr val="93A7BB"/>
                </a:solidFill>
                <a:latin typeface="Tajawal"/>
                <a:cs typeface="Tajawal"/>
              </a:rPr>
              <a:t>أول شي تشوفه: اللي يحتاج قرارك.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6503" y="1728216"/>
            <a:ext cx="4384913" cy="4544568"/>
          </a:xfrm>
          <a:prstGeom prst="roundRect">
            <a:avLst>
              <a:gd name="adj" fmla="val 6000"/>
            </a:avLst>
          </a:prstGeom>
          <a:solidFill>
            <a:srgbClr val="0A1220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l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67" y="1783080"/>
            <a:ext cx="4275185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77840" y="1920240"/>
            <a:ext cx="6035040" cy="4937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1000"/>
              </a:spcAft>
            </a:pPr>
            <a:r>
              <a:rPr sz="1900" b="0" lang="ar-BH">
                <a:solidFill>
                  <a:srgbClr val="EAF6FF"/>
                </a:solidFill>
                <a:latin typeface="Tajawal"/>
                <a:cs typeface="Tajawal"/>
              </a:rPr>
              <a:t>عقود تنتهي خلال 6 أشهر وعقود منتهية.</a:t>
            </a:r>
          </a:p>
          <a:p>
            <a:pPr rtl="1" algn="r">
              <a:spcAft>
                <a:spcPts val="1000"/>
              </a:spcAft>
            </a:pPr>
            <a:r>
              <a:rPr sz="1900" b="0" lang="ar-BH">
                <a:solidFill>
                  <a:srgbClr val="EAF6FF"/>
                </a:solidFill>
                <a:latin typeface="Tajawal"/>
                <a:cs typeface="Tajawal"/>
              </a:rPr>
              <a:t>غياب متكرر (3 غيابات بلا عذر متتالية).</a:t>
            </a:r>
          </a:p>
          <a:p>
            <a:pPr rtl="1" algn="r">
              <a:spcAft>
                <a:spcPts val="1000"/>
              </a:spcAft>
            </a:pPr>
            <a:r>
              <a:rPr sz="1900" b="0" lang="ar-BH">
                <a:solidFill>
                  <a:srgbClr val="EAF6FF"/>
                </a:solidFill>
                <a:latin typeface="Tajawal"/>
                <a:cs typeface="Tajawal"/>
              </a:rPr>
              <a:t>طلبات لاعبين تعدّت مهلتها الداخلية ورواتب متأخرة حسب سجلك.</a:t>
            </a:r>
          </a:p>
          <a:p>
            <a:pPr rtl="1" algn="r">
              <a:spcAft>
                <a:spcPts val="1000"/>
              </a:spcAft>
            </a:pPr>
            <a:r>
              <a:rPr sz="1900" b="0" lang="ar-BH">
                <a:solidFill>
                  <a:srgbClr val="EAF6FF"/>
                </a:solidFill>
                <a:latin typeface="Tajawal"/>
                <a:cs typeface="Tajawal"/>
              </a:rPr>
              <a:t>نسبة الأجور مقابل حدّها، وتقرير الموسم للاتحاد.</a:t>
            </a:r>
          </a:p>
          <a:p>
            <a:pPr rtl="1" algn="r">
              <a:spcAft>
                <a:spcPts val="1000"/>
              </a:spcAft>
            </a:pPr>
            <a:r>
              <a:rPr sz="1900" b="0" lang="ar-BH">
                <a:solidFill>
                  <a:srgbClr val="EAF6FF"/>
                </a:solidFill>
                <a:latin typeface="Tajawal"/>
                <a:cs typeface="Tajawal"/>
              </a:rPr>
              <a:t>كل بند يفتح المكان اللي يحلّه.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l">
              <a:spcAft>
                <a:spcPts val="600"/>
              </a:spcAft>
            </a:pPr>
            <a:r>
              <a:rPr sz="1100" b="0" lang="ar-BH">
                <a:solidFill>
                  <a:srgbClr val="93A7BB"/>
                </a:solidFill>
                <a:latin typeface="Tajawal"/>
                <a:cs typeface="Tajawal"/>
              </a:rPr>
              <a:t>Sports Hub · قيد التطوير · نسخة تجريبية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394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100" b="0" lang="ar-BH">
                <a:solidFill>
                  <a:srgbClr val="FFB020"/>
                </a:solidFill>
                <a:latin typeface="Tajawal"/>
                <a:cs typeface="Tajawal"/>
              </a:rPr>
              <a:t>* لقطات ببيانات تجريبية: لاعبون وأندية خيالية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l">
              <a:spcAft>
                <a:spcPts val="600"/>
              </a:spcAft>
            </a:pPr>
            <a:r>
              <a:rPr sz="1100" b="0" lang="ar-BH">
                <a:solidFill>
                  <a:srgbClr val="93A7BB"/>
                </a:solidFill>
                <a:latin typeface="Tajawal"/>
                <a:cs typeface="Tajaw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686032" y="475488"/>
            <a:ext cx="82296" cy="5669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84048"/>
            <a:ext cx="1065276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3400" b="1" lang="ar-BH">
                <a:solidFill>
                  <a:srgbClr val="EAF6FF"/>
                </a:solidFill>
                <a:latin typeface="Tajawal"/>
                <a:cs typeface="Tajawal"/>
              </a:rPr>
              <a:t>سجّل الحضور بنقرات، وخذ الملخص جاهز للمجموعة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6527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700" b="0" lang="ar-BH">
                <a:solidFill>
                  <a:srgbClr val="93A7BB"/>
                </a:solidFill>
                <a:latin typeface="Tajawal"/>
                <a:cs typeface="Tajawal"/>
              </a:rPr>
              <a:t>الصفحة اللي عجبت إداري جرّب النسخة.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" y="2080158"/>
            <a:ext cx="4681728" cy="3840682"/>
          </a:xfrm>
          <a:prstGeom prst="roundRect">
            <a:avLst>
              <a:gd name="adj" fmla="val 6000"/>
            </a:avLst>
          </a:prstGeom>
          <a:solidFill>
            <a:srgbClr val="0A1220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tt-rec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35022"/>
            <a:ext cx="4572000" cy="37309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77840" y="1874519"/>
            <a:ext cx="6035040" cy="4937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1000"/>
              </a:spcAft>
            </a:pPr>
            <a:r>
              <a:rPr sz="1800" b="0" lang="ar-BH">
                <a:solidFill>
                  <a:srgbClr val="EAF6FF"/>
                </a:solidFill>
                <a:latin typeface="Tajawal"/>
                <a:cs typeface="Tajawal"/>
              </a:rPr>
              <a:t>الكل حاضر افتراضياً، وتغيّر الاستثناءات بس.</a:t>
            </a:r>
          </a:p>
          <a:p>
            <a:pPr rtl="1" algn="r">
              <a:spcAft>
                <a:spcPts val="1000"/>
              </a:spcAft>
            </a:pPr>
            <a:r>
              <a:rPr sz="1800" b="0" lang="ar-BH">
                <a:solidFill>
                  <a:srgbClr val="EAF6FF"/>
                </a:solidFill>
                <a:latin typeface="Tajawal"/>
                <a:cs typeface="Tajawal"/>
              </a:rPr>
              <a:t>نقرة على اسم اللاعب تبدّل حالته: حاضر ← متأخر ← بعذر ← غائب.</a:t>
            </a:r>
          </a:p>
          <a:p>
            <a:pPr rtl="1" algn="r">
              <a:spcAft>
                <a:spcPts val="1000"/>
              </a:spcAft>
            </a:pPr>
            <a:r>
              <a:rPr sz="1800" b="0" lang="ar-BH">
                <a:solidFill>
                  <a:srgbClr val="EAF6FF"/>
                </a:solidFill>
                <a:latin typeface="Tajawal"/>
                <a:cs typeface="Tajawal"/>
              </a:rPr>
              <a:t>«انسخ آخر تمرين» لما تتشابه الجلسات.</a:t>
            </a:r>
          </a:p>
          <a:p>
            <a:pPr rtl="1" algn="r">
              <a:spcAft>
                <a:spcPts val="1000"/>
              </a:spcAft>
            </a:pPr>
            <a:r>
              <a:rPr sz="1800" b="0" lang="ar-BH">
                <a:solidFill>
                  <a:srgbClr val="EAF6FF"/>
                </a:solidFill>
                <a:latin typeface="Tajawal"/>
                <a:cs typeface="Tajawal"/>
              </a:rPr>
              <a:t>بعد الحفظ يطلع نص للمجموعة: عدد الحضور، المتأخرون والغائبون بدون عذر بأرقام القمصان.</a:t>
            </a:r>
          </a:p>
          <a:p>
            <a:pPr rtl="1" algn="r">
              <a:spcAft>
                <a:spcPts val="1000"/>
              </a:spcAft>
            </a:pPr>
            <a:r>
              <a:rPr sz="1800" b="0" lang="ar-BH">
                <a:solidFill>
                  <a:srgbClr val="00E5FF"/>
                </a:solidFill>
                <a:latin typeface="Tajawal"/>
                <a:cs typeface="Tajawal"/>
              </a:rPr>
              <a:t>ما يطلع سبب الغياب بعذر (قد يكون طبياً): العدد بس. تعدّل النص قبل ما ترسل.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l">
              <a:spcAft>
                <a:spcPts val="600"/>
              </a:spcAft>
            </a:pPr>
            <a:r>
              <a:rPr sz="1100" b="0" lang="ar-BH">
                <a:solidFill>
                  <a:srgbClr val="93A7BB"/>
                </a:solidFill>
                <a:latin typeface="Tajawal"/>
                <a:cs typeface="Tajawal"/>
              </a:rPr>
              <a:t>Sports Hub · قيد التطوير · نسخة تجريبية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394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100" b="0" lang="ar-BH">
                <a:solidFill>
                  <a:srgbClr val="FFB020"/>
                </a:solidFill>
                <a:latin typeface="Tajawal"/>
                <a:cs typeface="Tajawal"/>
              </a:rPr>
              <a:t>* لقطات ببيانات تجريبية: لاعبون وأندية خيالية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l">
              <a:spcAft>
                <a:spcPts val="600"/>
              </a:spcAft>
            </a:pPr>
            <a:r>
              <a:rPr sz="1100" b="0" lang="ar-BH">
                <a:solidFill>
                  <a:srgbClr val="93A7BB"/>
                </a:solidFill>
                <a:latin typeface="Tajawal"/>
                <a:cs typeface="Tajaw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686032" y="475488"/>
            <a:ext cx="82296" cy="5669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84048"/>
            <a:ext cx="1065276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3400" b="1" lang="ar-BH">
                <a:solidFill>
                  <a:srgbClr val="EAF6FF"/>
                </a:solidFill>
                <a:latin typeface="Tajawal"/>
                <a:cs typeface="Tajawal"/>
              </a:rPr>
              <a:t>نسبة الفريق مقابل الـ30 يوم اللي قبلها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6527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700" b="0" lang="ar-BH">
                <a:solidFill>
                  <a:srgbClr val="93A7BB"/>
                </a:solidFill>
                <a:latin typeface="Tajawal"/>
                <a:cs typeface="Tajawal"/>
              </a:rPr>
              <a:t>وكل لاعب بنسبته، ومين يتكرر غيابه.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" y="2190822"/>
            <a:ext cx="4681728" cy="3619354"/>
          </a:xfrm>
          <a:prstGeom prst="roundRect">
            <a:avLst>
              <a:gd name="adj" fmla="val 6000"/>
            </a:avLst>
          </a:prstGeom>
          <a:solidFill>
            <a:srgbClr val="0A1220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tt-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45686"/>
            <a:ext cx="4572000" cy="35096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60720" y="1965960"/>
            <a:ext cx="5852160" cy="4937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1000"/>
              </a:spcAft>
            </a:pPr>
            <a:r>
              <a:rPr sz="1900" b="0" lang="ar-BH">
                <a:solidFill>
                  <a:srgbClr val="EAF6FF"/>
                </a:solidFill>
                <a:latin typeface="Tajawal"/>
                <a:cs typeface="Tajawal"/>
              </a:rPr>
              <a:t>الغياب بعذر ما يحسب ضد اللاعب.</a:t>
            </a:r>
          </a:p>
          <a:p>
            <a:pPr rtl="1" algn="r">
              <a:spcAft>
                <a:spcPts val="1000"/>
              </a:spcAft>
            </a:pPr>
            <a:r>
              <a:rPr sz="1900" b="0" lang="ar-BH">
                <a:solidFill>
                  <a:srgbClr val="EAF6FF"/>
                </a:solidFill>
                <a:latin typeface="Tajawal"/>
                <a:cs typeface="Tajawal"/>
              </a:rPr>
              <a:t>النسبة تحتاج 3 جلسات محسوبة، وإلا نكتب «ما فيه بيانات كافية».</a:t>
            </a:r>
          </a:p>
          <a:p>
            <a:pPr rtl="1" algn="r">
              <a:spcAft>
                <a:spcPts val="1000"/>
              </a:spcAft>
            </a:pPr>
            <a:r>
              <a:rPr sz="1900" b="0" lang="ar-BH">
                <a:solidFill>
                  <a:srgbClr val="EAF6FF"/>
                </a:solidFill>
                <a:latin typeface="Tajawal"/>
                <a:cs typeface="Tajawal"/>
              </a:rPr>
              <a:t>«غياب متكرر» = 3 غيابات بلا عذر متتالية.</a:t>
            </a:r>
          </a:p>
          <a:p>
            <a:pPr rtl="1" algn="r">
              <a:spcAft>
                <a:spcPts val="1000"/>
              </a:spcAft>
            </a:pPr>
            <a:r>
              <a:rPr sz="1900" b="0" lang="ar-BH">
                <a:solidFill>
                  <a:srgbClr val="EAF6FF"/>
                </a:solidFill>
                <a:latin typeface="Tajawal"/>
                <a:cs typeface="Tajawal"/>
              </a:rPr>
              <a:t>للمتابعة والكلام مع اللاعب، مو للعقاب.</a:t>
            </a:r>
          </a:p>
          <a:p>
            <a:pPr rtl="1" algn="r">
              <a:spcAft>
                <a:spcPts val="1000"/>
              </a:spcAft>
            </a:pPr>
            <a:r>
              <a:rPr sz="1900" b="0" lang="ar-BH">
                <a:solidFill>
                  <a:srgbClr val="EAF6FF"/>
                </a:solidFill>
                <a:latin typeface="Tajawal"/>
                <a:cs typeface="Tajawal"/>
              </a:rPr>
              <a:t>المقارنة تظهر بس لو فيه 3 جلسات بكل فترة.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l">
              <a:spcAft>
                <a:spcPts val="600"/>
              </a:spcAft>
            </a:pPr>
            <a:r>
              <a:rPr sz="1100" b="0" lang="ar-BH">
                <a:solidFill>
                  <a:srgbClr val="93A7BB"/>
                </a:solidFill>
                <a:latin typeface="Tajawal"/>
                <a:cs typeface="Tajawal"/>
              </a:rPr>
              <a:t>Sports Hub · قيد التطوير · نسخة تجريبية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394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100" b="0" lang="ar-BH">
                <a:solidFill>
                  <a:srgbClr val="FFB020"/>
                </a:solidFill>
                <a:latin typeface="Tajawal"/>
                <a:cs typeface="Tajawal"/>
              </a:rPr>
              <a:t>* لقطات ببيانات تجريبية: لاعبون وأندية خيالية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l">
              <a:spcAft>
                <a:spcPts val="600"/>
              </a:spcAft>
            </a:pPr>
            <a:r>
              <a:rPr sz="1100" b="0" lang="ar-BH">
                <a:solidFill>
                  <a:srgbClr val="93A7BB"/>
                </a:solidFill>
                <a:latin typeface="Tajawal"/>
                <a:cs typeface="Tajaw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686032" y="475488"/>
            <a:ext cx="82296" cy="5669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84048"/>
            <a:ext cx="1065276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3400" b="1" lang="ar-BH">
                <a:solidFill>
                  <a:srgbClr val="EAF6FF"/>
                </a:solidFill>
                <a:latin typeface="Tajawal"/>
                <a:cs typeface="Tajawal"/>
              </a:rPr>
              <a:t>جدول شهري يطبع بصفحة وحدة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6527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700" b="0" lang="ar-BH">
                <a:solidFill>
                  <a:srgbClr val="93A7BB"/>
                </a:solidFill>
                <a:latin typeface="Tajawal"/>
                <a:cs typeface="Tajawal"/>
              </a:rPr>
              <a:t>لاعبون × جلسات الشهر، مع نسبة كل لاعب.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6697" y="1728216"/>
            <a:ext cx="4690284" cy="4544568"/>
          </a:xfrm>
          <a:prstGeom prst="roundRect">
            <a:avLst>
              <a:gd name="adj" fmla="val 6000"/>
            </a:avLst>
          </a:prstGeom>
          <a:solidFill>
            <a:srgbClr val="0A1220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tt-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561" y="1783080"/>
            <a:ext cx="4580556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1965960"/>
            <a:ext cx="5303520" cy="4937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1000"/>
              </a:spcAft>
            </a:pPr>
            <a:r>
              <a:rPr sz="1900" b="0" lang="ar-BH">
                <a:solidFill>
                  <a:srgbClr val="EAF6FF"/>
                </a:solidFill>
                <a:latin typeface="Tajawal"/>
                <a:cs typeface="Tajawal"/>
              </a:rPr>
              <a:t>✓ حاضر · ت متأخر · ع غياب بعذر · ✗ غياب.</a:t>
            </a:r>
          </a:p>
          <a:p>
            <a:pPr rtl="1" algn="r">
              <a:spcAft>
                <a:spcPts val="1000"/>
              </a:spcAft>
            </a:pPr>
            <a:r>
              <a:rPr sz="1900" b="0" lang="ar-BH">
                <a:solidFill>
                  <a:srgbClr val="EAF6FF"/>
                </a:solidFill>
                <a:latin typeface="Tajawal"/>
                <a:cs typeface="Tajawal"/>
              </a:rPr>
              <a:t>زر «اطبع أو احفظ PDF» للمجلس أو المدرب.</a:t>
            </a:r>
          </a:p>
          <a:p>
            <a:pPr rtl="1" algn="r">
              <a:spcAft>
                <a:spcPts val="1000"/>
              </a:spcAft>
            </a:pPr>
            <a:r>
              <a:rPr sz="1900" b="0" lang="ar-BH">
                <a:solidFill>
                  <a:srgbClr val="EAF6FF"/>
                </a:solidFill>
                <a:latin typeface="Tajawal"/>
                <a:cs typeface="Tajawal"/>
              </a:rPr>
              <a:t>يطبع أبيض بدون القوائم، وتختار أي شهر.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l">
              <a:spcAft>
                <a:spcPts val="600"/>
              </a:spcAft>
            </a:pPr>
            <a:r>
              <a:rPr sz="1100" b="0" lang="ar-BH">
                <a:solidFill>
                  <a:srgbClr val="93A7BB"/>
                </a:solidFill>
                <a:latin typeface="Tajawal"/>
                <a:cs typeface="Tajawal"/>
              </a:rPr>
              <a:t>Sports Hub · قيد التطوير · نسخة تجريبية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394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100" b="0" lang="ar-BH">
                <a:solidFill>
                  <a:srgbClr val="FFB020"/>
                </a:solidFill>
                <a:latin typeface="Tajawal"/>
                <a:cs typeface="Tajawal"/>
              </a:rPr>
              <a:t>* لقطات ببيانات تجريبية: لاعبون وأندية خيالية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l">
              <a:spcAft>
                <a:spcPts val="600"/>
              </a:spcAft>
            </a:pPr>
            <a:r>
              <a:rPr sz="1100" b="0" lang="ar-BH">
                <a:solidFill>
                  <a:srgbClr val="93A7BB"/>
                </a:solidFill>
                <a:latin typeface="Tajawal"/>
                <a:cs typeface="Tajaw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686032" y="475488"/>
            <a:ext cx="82296" cy="5669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84048"/>
            <a:ext cx="1065276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3400" b="1" lang="ar-BH">
                <a:solidFill>
                  <a:srgbClr val="EAF6FF"/>
                </a:solidFill>
                <a:latin typeface="Tajawal"/>
                <a:cs typeface="Tajawal"/>
              </a:rPr>
              <a:t>التشكيلة وتقرير المباراة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6527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700" b="0" lang="ar-BH">
                <a:solidFill>
                  <a:srgbClr val="93A7BB"/>
                </a:solidFill>
                <a:latin typeface="Tajawal"/>
                <a:cs typeface="Tajawal"/>
              </a:rPr>
              <a:t>اقتراح مسودة، والقرار للمدرب.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64241" y="1728216"/>
            <a:ext cx="3993756" cy="4407408"/>
          </a:xfrm>
          <a:prstGeom prst="roundRect">
            <a:avLst>
              <a:gd name="adj" fmla="val 6000"/>
            </a:avLst>
          </a:prstGeom>
          <a:solidFill>
            <a:srgbClr val="0A1220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ine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9105" y="1783080"/>
            <a:ext cx="3884028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409197" y="1728216"/>
            <a:ext cx="3765284" cy="4407408"/>
          </a:xfrm>
          <a:prstGeom prst="roundRect">
            <a:avLst>
              <a:gd name="adj" fmla="val 6000"/>
            </a:avLst>
          </a:prstGeom>
          <a:solidFill>
            <a:srgbClr val="0A1220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061" y="1783080"/>
            <a:ext cx="3655556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6144768"/>
            <a:ext cx="5212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300" b="0" lang="ar-BH">
                <a:solidFill>
                  <a:srgbClr val="93A7BB"/>
                </a:solidFill>
                <a:latin typeface="Tajawal"/>
                <a:cs typeface="Tajawal"/>
              </a:rPr>
              <a:t>تشكيلة المباراة: يقترح، المدرب يقرر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144768"/>
            <a:ext cx="49377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1300" b="0" lang="ar-BH">
                <a:solidFill>
                  <a:srgbClr val="93A7BB"/>
                </a:solidFill>
                <a:latin typeface="Tajawal"/>
                <a:cs typeface="Tajawal"/>
              </a:rPr>
              <a:t>التقرير الشهري: أرقام الفريق فقط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l">
              <a:spcAft>
                <a:spcPts val="600"/>
              </a:spcAft>
            </a:pPr>
            <a:r>
              <a:rPr sz="1100" b="0" lang="ar-BH">
                <a:solidFill>
                  <a:srgbClr val="93A7BB"/>
                </a:solidFill>
                <a:latin typeface="Tajawal"/>
                <a:cs typeface="Tajawal"/>
              </a:rPr>
              <a:t>Sports Hub · قيد التطوير · نسخة تجريبية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446520"/>
            <a:ext cx="5394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100" b="0" lang="ar-BH">
                <a:solidFill>
                  <a:srgbClr val="FFB020"/>
                </a:solidFill>
                <a:latin typeface="Tajawal"/>
                <a:cs typeface="Tajawal"/>
              </a:rPr>
              <a:t>* لقطات ببيانات تجريبية: لاعبون وأندية خيالية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l">
              <a:spcAft>
                <a:spcPts val="600"/>
              </a:spcAft>
            </a:pPr>
            <a:r>
              <a:rPr sz="1100" b="0" lang="ar-BH">
                <a:solidFill>
                  <a:srgbClr val="93A7BB"/>
                </a:solidFill>
                <a:latin typeface="Tajawal"/>
                <a:cs typeface="Tajaw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686032" y="475488"/>
            <a:ext cx="82296" cy="5669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84048"/>
            <a:ext cx="1065276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3400" b="1" lang="ar-BH">
                <a:solidFill>
                  <a:srgbClr val="EAF6FF"/>
                </a:solidFill>
                <a:latin typeface="Tajawal"/>
                <a:cs typeface="Tajawal"/>
              </a:rPr>
              <a:t>ملف اللاعب والتطوير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6527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700" b="0" lang="ar-BH">
                <a:solidFill>
                  <a:srgbClr val="93A7BB"/>
                </a:solidFill>
                <a:latin typeface="Tajawal"/>
                <a:cs typeface="Tajawal"/>
              </a:rPr>
              <a:t>حقائق وأعداد، ما فيه «درجة» للاعب.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90700" y="1728216"/>
            <a:ext cx="4340839" cy="4498848"/>
          </a:xfrm>
          <a:prstGeom prst="roundRect">
            <a:avLst>
              <a:gd name="adj" fmla="val 6000"/>
            </a:avLst>
          </a:prstGeom>
          <a:solidFill>
            <a:srgbClr val="0A1220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la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5564" y="1783080"/>
            <a:ext cx="4231111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121420" y="1728216"/>
            <a:ext cx="4340839" cy="4498848"/>
          </a:xfrm>
          <a:prstGeom prst="roundRect">
            <a:avLst>
              <a:gd name="adj" fmla="val 6000"/>
            </a:avLst>
          </a:prstGeom>
          <a:solidFill>
            <a:srgbClr val="0A1220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evelop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284" y="1783080"/>
            <a:ext cx="4231111" cy="4389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l">
              <a:spcAft>
                <a:spcPts val="600"/>
              </a:spcAft>
            </a:pPr>
            <a:r>
              <a:rPr sz="1100" b="0" lang="ar-BH">
                <a:solidFill>
                  <a:srgbClr val="93A7BB"/>
                </a:solidFill>
                <a:latin typeface="Tajawal"/>
                <a:cs typeface="Tajawal"/>
              </a:rPr>
              <a:t>Sports Hub · قيد التطوير · نسخة تجريبية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394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100" b="0" lang="ar-BH">
                <a:solidFill>
                  <a:srgbClr val="FFB020"/>
                </a:solidFill>
                <a:latin typeface="Tajawal"/>
                <a:cs typeface="Tajawal"/>
              </a:rPr>
              <a:t>* لقطات ببيانات تجريبية: لاعبون وأندية خيالية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l">
              <a:spcAft>
                <a:spcPts val="600"/>
              </a:spcAft>
            </a:pPr>
            <a:r>
              <a:rPr sz="1100" b="0" lang="ar-BH">
                <a:solidFill>
                  <a:srgbClr val="93A7BB"/>
                </a:solidFill>
                <a:latin typeface="Tajawal"/>
                <a:cs typeface="Tajaw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686032" y="475488"/>
            <a:ext cx="82296" cy="5669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84048"/>
            <a:ext cx="1065276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3400" b="1" lang="ar-BH">
                <a:solidFill>
                  <a:srgbClr val="EAF6FF"/>
                </a:solidFill>
                <a:latin typeface="Tajawal"/>
                <a:cs typeface="Tajawal"/>
              </a:rPr>
              <a:t>ضيف اللاعبين بلصق قائمة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6527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700" b="0" lang="ar-BH">
                <a:solidFill>
                  <a:srgbClr val="93A7BB"/>
                </a:solidFill>
                <a:latin typeface="Tajawal"/>
                <a:cs typeface="Tajawal"/>
              </a:rPr>
              <a:t>من واتساب أو إكسل: يقرأ الرقم والاسم والمركز لحاله.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" y="2048540"/>
            <a:ext cx="4681728" cy="3903918"/>
          </a:xfrm>
          <a:prstGeom prst="roundRect">
            <a:avLst>
              <a:gd name="adj" fmla="val 6000"/>
            </a:avLst>
          </a:prstGeom>
          <a:solidFill>
            <a:srgbClr val="0A1220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03404"/>
            <a:ext cx="4572000" cy="37941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77840" y="1920240"/>
            <a:ext cx="6035040" cy="4937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1000"/>
              </a:spcAft>
            </a:pPr>
            <a:r>
              <a:rPr sz="1800" b="0" lang="ar-BH">
                <a:solidFill>
                  <a:srgbClr val="EAF6FF"/>
                </a:solidFill>
                <a:latin typeface="Tajawal"/>
                <a:cs typeface="Tajawal"/>
              </a:rPr>
              <a:t>تلصق «7 خالد المحمد مهاجم» بأي فاصل، وتشوف معاينة قبل الإضافة.</a:t>
            </a:r>
          </a:p>
          <a:p>
            <a:pPr rtl="1" algn="r">
              <a:spcAft>
                <a:spcPts val="1000"/>
              </a:spcAft>
            </a:pPr>
            <a:r>
              <a:rPr sz="1800" b="0" lang="ar-BH">
                <a:solidFill>
                  <a:srgbClr val="EAF6FF"/>
                </a:solidFill>
                <a:latin typeface="Tajawal"/>
                <a:cs typeface="Tajawal"/>
              </a:rPr>
              <a:t>أو تضيف لاعب لاعب بنموذج صغير.</a:t>
            </a:r>
          </a:p>
          <a:p>
            <a:pPr rtl="1" algn="r">
              <a:spcAft>
                <a:spcPts val="1000"/>
              </a:spcAft>
            </a:pPr>
            <a:r>
              <a:rPr sz="1800" b="0" lang="ar-BH">
                <a:solidFill>
                  <a:srgbClr val="EAF6FF"/>
                </a:solidFill>
                <a:latin typeface="Tajawal"/>
                <a:cs typeface="Tajawal"/>
              </a:rPr>
              <a:t>تُضاف للتشكيلة ولا تستبدل أحداً. بدون رواتب ولا عقود.</a:t>
            </a:r>
          </a:p>
          <a:p>
            <a:pPr rtl="1" algn="r">
              <a:spcAft>
                <a:spcPts val="1000"/>
              </a:spcAft>
            </a:pPr>
            <a:r>
              <a:rPr sz="1800" b="0" lang="ar-BH">
                <a:solidFill>
                  <a:srgbClr val="00E5FF"/>
                </a:solidFill>
                <a:latin typeface="Tajawal"/>
                <a:cs typeface="Tajawal"/>
              </a:rPr>
              <a:t>الاتفاقية أول، ومرجع الموافقة تكتبه أنت: ما نولّده.</a:t>
            </a:r>
          </a:p>
          <a:p>
            <a:pPr rtl="1" algn="r">
              <a:spcAft>
                <a:spcPts val="1000"/>
              </a:spcAft>
            </a:pPr>
            <a:r>
              <a:rPr sz="1800" b="0" lang="ar-BH">
                <a:solidFill>
                  <a:srgbClr val="EAF6FF"/>
                </a:solidFill>
                <a:latin typeface="Tajawal"/>
                <a:cs typeface="Tajawal"/>
              </a:rPr>
              <a:t>عندك صورة أو PDF؟ حدّد النص منها بجوالك وانسخه والصقه: ما نرفع صور لأي سيرفر.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l">
              <a:spcAft>
                <a:spcPts val="600"/>
              </a:spcAft>
            </a:pPr>
            <a:r>
              <a:rPr sz="1100" b="0" lang="ar-BH">
                <a:solidFill>
                  <a:srgbClr val="93A7BB"/>
                </a:solidFill>
                <a:latin typeface="Tajawal"/>
                <a:cs typeface="Tajawal"/>
              </a:rPr>
              <a:t>Sports Hub · قيد التطوير · نسخة تجريبية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394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100" b="0" lang="ar-BH">
                <a:solidFill>
                  <a:srgbClr val="FFB020"/>
                </a:solidFill>
                <a:latin typeface="Tajawal"/>
                <a:cs typeface="Tajawal"/>
              </a:rPr>
              <a:t>* لقطات ببيانات تجريبية: لاعبون وأندية خيالية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l">
              <a:spcAft>
                <a:spcPts val="600"/>
              </a:spcAft>
            </a:pPr>
            <a:r>
              <a:rPr sz="1100" b="0" lang="ar-BH">
                <a:solidFill>
                  <a:srgbClr val="93A7BB"/>
                </a:solidFill>
                <a:latin typeface="Tajawal"/>
                <a:cs typeface="Tajaw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686032" y="475488"/>
            <a:ext cx="82296" cy="5669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84048"/>
            <a:ext cx="1065276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3400" b="1" lang="ar-BH">
                <a:solidFill>
                  <a:srgbClr val="EAF6FF"/>
                </a:solidFill>
                <a:latin typeface="Tajawal"/>
                <a:cs typeface="Tajawal"/>
              </a:rPr>
              <a:t>الخصوصية بقفل، مو بوعد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08760"/>
            <a:ext cx="10652760" cy="777240"/>
          </a:xfrm>
          <a:prstGeom prst="roundRect">
            <a:avLst>
              <a:gd name="adj" fmla="val 6000"/>
            </a:avLst>
          </a:prstGeom>
          <a:solidFill>
            <a:srgbClr val="0A1220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0" y="1600200"/>
            <a:ext cx="493776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000" b="1" lang="ar-BH">
                <a:solidFill>
                  <a:srgbClr val="00E5FF"/>
                </a:solidFill>
                <a:latin typeface="Tajawal"/>
                <a:cs typeface="Tajawal"/>
              </a:rPr>
              <a:t>اتفاقية معالجة البيانات أول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00200"/>
            <a:ext cx="530352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600" b="0" lang="ar-BH">
                <a:solidFill>
                  <a:srgbClr val="EAF6FF"/>
                </a:solidFill>
                <a:latin typeface="Tajawal"/>
                <a:cs typeface="Tajawal"/>
              </a:rPr>
              <a:t>القاعدة نفسها ترفض أي استيراد أو إضافة بدونها.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404872"/>
            <a:ext cx="10652760" cy="777240"/>
          </a:xfrm>
          <a:prstGeom prst="roundRect">
            <a:avLst>
              <a:gd name="adj" fmla="val 6000"/>
            </a:avLst>
          </a:prstGeom>
          <a:solidFill>
            <a:srgbClr val="0A1220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496312"/>
            <a:ext cx="493776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000" b="1" lang="ar-BH">
                <a:solidFill>
                  <a:srgbClr val="00E5FF"/>
                </a:solidFill>
                <a:latin typeface="Tajawal"/>
                <a:cs typeface="Tajawal"/>
              </a:rPr>
              <a:t>موافقة لكل لاعب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96312"/>
            <a:ext cx="530352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600" b="0" lang="ar-BH">
                <a:solidFill>
                  <a:srgbClr val="EAF6FF"/>
                </a:solidFill>
                <a:latin typeface="Tajawal"/>
                <a:cs typeface="Tajawal"/>
              </a:rPr>
              <a:t>مرجع الموافقة يكتبه النادي، وسحب الموافقة يمسح بيانات اللاعب.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300984"/>
            <a:ext cx="10652760" cy="777240"/>
          </a:xfrm>
          <a:prstGeom prst="roundRect">
            <a:avLst>
              <a:gd name="adj" fmla="val 6000"/>
            </a:avLst>
          </a:prstGeom>
          <a:solidFill>
            <a:srgbClr val="0A1220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392424"/>
            <a:ext cx="493776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000" b="1" lang="ar-BH">
                <a:solidFill>
                  <a:srgbClr val="00E5FF"/>
                </a:solidFill>
                <a:latin typeface="Tajawal"/>
                <a:cs typeface="Tajawal"/>
              </a:rPr>
              <a:t>الصحة: حالة فقط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392424"/>
            <a:ext cx="530352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600" b="0" lang="ar-BH">
                <a:solidFill>
                  <a:srgbClr val="EAF6FF"/>
                </a:solidFill>
                <a:latin typeface="Tajawal"/>
                <a:cs typeface="Tajawal"/>
              </a:rPr>
              <a:t>جاهز، مشكوك، مصاب، موقوف. ما نقبل ملاحظات صحية ولا تشخيصات.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197096"/>
            <a:ext cx="10652760" cy="777240"/>
          </a:xfrm>
          <a:prstGeom prst="roundRect">
            <a:avLst>
              <a:gd name="adj" fmla="val 6000"/>
            </a:avLst>
          </a:prstGeom>
          <a:solidFill>
            <a:srgbClr val="0A1220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288536"/>
            <a:ext cx="493776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000" b="1" lang="ar-BH">
                <a:solidFill>
                  <a:srgbClr val="00E5FF"/>
                </a:solidFill>
                <a:latin typeface="Tajawal"/>
                <a:cs typeface="Tajawal"/>
              </a:rPr>
              <a:t>سجل داخلي بلا أسماء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288536"/>
            <a:ext cx="530352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600" b="0" lang="ar-BH">
                <a:solidFill>
                  <a:srgbClr val="EAF6FF"/>
                </a:solidFill>
                <a:latin typeface="Tajawal"/>
                <a:cs typeface="Tajawal"/>
              </a:rPr>
              <a:t>يسجّل من غيّر أي جدول ومتى، بدون القيم.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093208"/>
            <a:ext cx="10652760" cy="777240"/>
          </a:xfrm>
          <a:prstGeom prst="roundRect">
            <a:avLst>
              <a:gd name="adj" fmla="val 6000"/>
            </a:avLst>
          </a:prstGeom>
          <a:solidFill>
            <a:srgbClr val="0A1220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5184648"/>
            <a:ext cx="493776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000" b="1" lang="ar-BH">
                <a:solidFill>
                  <a:srgbClr val="00E5FF"/>
                </a:solidFill>
                <a:latin typeface="Tajawal"/>
                <a:cs typeface="Tajawal"/>
              </a:rPr>
              <a:t>بدون أدوات تتبع خارجية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184648"/>
            <a:ext cx="530352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600" b="0" lang="ar-BH">
                <a:solidFill>
                  <a:srgbClr val="EAF6FF"/>
                </a:solidFill>
                <a:latin typeface="Tajawal"/>
                <a:cs typeface="Tajawal"/>
              </a:rPr>
              <a:t>ولا إعلانات. الأخطاء والشاشات تنعدّ على قاعدتنا بدون محتوى.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989320"/>
            <a:ext cx="106527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500" b="0" lang="ar-BH">
                <a:solidFill>
                  <a:srgbClr val="FFB020"/>
                </a:solidFill>
                <a:latin typeface="Tajawal"/>
                <a:cs typeface="Tajawal"/>
              </a:rPr>
              <a:t>الاتفاقية والمهل القانونية تنتظر مراجعة محامٍ مرخّص قبل أي بيانات لاعبين حقيقية.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l">
              <a:spcAft>
                <a:spcPts val="600"/>
              </a:spcAft>
            </a:pPr>
            <a:r>
              <a:rPr sz="1100" b="0" lang="ar-BH">
                <a:solidFill>
                  <a:srgbClr val="93A7BB"/>
                </a:solidFill>
                <a:latin typeface="Tajawal"/>
                <a:cs typeface="Tajawal"/>
              </a:rPr>
              <a:t>Sports Hub · قيد التطوير · نسخة تجريبية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l">
              <a:spcAft>
                <a:spcPts val="600"/>
              </a:spcAft>
            </a:pPr>
            <a:r>
              <a:rPr sz="1100" b="0" lang="ar-BH">
                <a:solidFill>
                  <a:srgbClr val="93A7BB"/>
                </a:solidFill>
                <a:latin typeface="Tajawal"/>
                <a:cs typeface="Tajaw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686032" y="475488"/>
            <a:ext cx="82296" cy="5669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84048"/>
            <a:ext cx="1065276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3400" b="1" lang="ar-BH">
                <a:solidFill>
                  <a:srgbClr val="EAF6FF"/>
                </a:solidFill>
                <a:latin typeface="Tajawal"/>
                <a:cs typeface="Tajawal"/>
              </a:rPr>
              <a:t>شنو شغّال اليوم وشنو لا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6527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700" b="0" lang="ar-BH">
                <a:solidFill>
                  <a:srgbClr val="93A7BB"/>
                </a:solidFill>
                <a:latin typeface="Tajawal"/>
                <a:cs typeface="Tajawal"/>
              </a:rPr>
              <a:t>بصراحة.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91640"/>
            <a:ext cx="5303520" cy="4434840"/>
          </a:xfrm>
          <a:prstGeom prst="roundRect">
            <a:avLst>
              <a:gd name="adj" fmla="val 6000"/>
            </a:avLst>
          </a:prstGeom>
          <a:solidFill>
            <a:srgbClr val="0A1220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74520"/>
            <a:ext cx="49377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200" b="1" lang="ar-BH">
                <a:solidFill>
                  <a:srgbClr val="3DDC97"/>
                </a:solidFill>
                <a:latin typeface="Tajawal"/>
                <a:cs typeface="Tajawal"/>
              </a:rPr>
              <a:t>شغّال بالنسخة التجريبية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2468880"/>
            <a:ext cx="4937759" cy="35204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700" b="0" lang="ar-BH">
                <a:solidFill>
                  <a:srgbClr val="EAF6FF"/>
                </a:solidFill>
                <a:latin typeface="Tajawal"/>
                <a:cs typeface="Tajawal"/>
              </a:rPr>
              <a:t>كل الشاشات اللي شفتها، ببيانات خيالية تنحفظ على جهازك بس.</a:t>
            </a:r>
          </a:p>
          <a:p>
            <a:pPr rtl="1" algn="r">
              <a:spcAft>
                <a:spcPts val="600"/>
              </a:spcAft>
            </a:pPr>
            <a:r>
              <a:rPr sz="1700" b="0" lang="ar-BH">
                <a:solidFill>
                  <a:srgbClr val="EAF6FF"/>
                </a:solidFill>
                <a:latin typeface="Tajawal"/>
                <a:cs typeface="Tajawal"/>
              </a:rPr>
              <a:t>الحضور، الجدول الشهري، ملخص الواتساب (ينتسخ)، نسبة الفريق.</a:t>
            </a:r>
          </a:p>
          <a:p>
            <a:pPr rtl="1" algn="r">
              <a:spcAft>
                <a:spcPts val="600"/>
              </a:spcAft>
            </a:pPr>
            <a:r>
              <a:rPr sz="1700" b="0" lang="ar-BH">
                <a:solidFill>
                  <a:srgbClr val="EAF6FF"/>
                </a:solidFill>
                <a:latin typeface="Tajawal"/>
                <a:cs typeface="Tajawal"/>
              </a:rPr>
              <a:t>طباعة التقرير والجدول، وضع الملعب (خط أكبر وتباين أعلى).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5303520" cy="4434840"/>
          </a:xfrm>
          <a:prstGeom prst="roundRect">
            <a:avLst>
              <a:gd name="adj" fmla="val 6000"/>
            </a:avLst>
          </a:prstGeom>
          <a:solidFill>
            <a:srgbClr val="0A1220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874520"/>
            <a:ext cx="49377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200" b="1" lang="ar-BH">
                <a:solidFill>
                  <a:srgbClr val="FFB020"/>
                </a:solidFill>
                <a:latin typeface="Tajawal"/>
                <a:cs typeface="Tajawal"/>
              </a:rPr>
              <a:t>لسا مو جاهز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468880"/>
            <a:ext cx="4937759" cy="35204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700" b="0" lang="ar-BH">
                <a:solidFill>
                  <a:srgbClr val="EAF6FF"/>
                </a:solidFill>
                <a:latin typeface="Tajawal"/>
                <a:cs typeface="Tajawal"/>
              </a:rPr>
              <a:t>دخول بحسابات وحفظ بياناتك على السيرفر: يحتاج إعدادات تشغيل.</a:t>
            </a:r>
          </a:p>
          <a:p>
            <a:pPr rtl="1" algn="r">
              <a:spcAft>
                <a:spcPts val="600"/>
              </a:spcAft>
            </a:pPr>
            <a:r>
              <a:rPr sz="1700" b="0" lang="ar-BH">
                <a:solidFill>
                  <a:srgbClr val="EAF6FF"/>
                </a:solidFill>
                <a:latin typeface="Tajawal"/>
                <a:cs typeface="Tajawal"/>
              </a:rPr>
              <a:t>تطبيق بالمتاجر.</a:t>
            </a:r>
          </a:p>
          <a:p>
            <a:pPr rtl="1" algn="r">
              <a:spcAft>
                <a:spcPts val="600"/>
              </a:spcAft>
            </a:pPr>
            <a:r>
              <a:rPr sz="1700" b="0" lang="ar-BH">
                <a:solidFill>
                  <a:srgbClr val="EAF6FF"/>
                </a:solidFill>
                <a:latin typeface="Tajawal"/>
                <a:cs typeface="Tajawal"/>
              </a:rPr>
              <a:t>إرسال تلقائي للواتساب (اليوم تنسخ النص وترسله أنت).</a:t>
            </a:r>
          </a:p>
          <a:p>
            <a:pPr rtl="1" algn="r">
              <a:spcAft>
                <a:spcPts val="600"/>
              </a:spcAft>
            </a:pPr>
            <a:r>
              <a:rPr sz="1700" b="0" lang="ar-BH">
                <a:solidFill>
                  <a:srgbClr val="EAF6FF"/>
                </a:solidFill>
                <a:latin typeface="Tajawal"/>
                <a:cs typeface="Tajawal"/>
              </a:rPr>
              <a:t>قراءة صور القوائم.</a:t>
            </a:r>
          </a:p>
          <a:p>
            <a:pPr rtl="1" algn="r">
              <a:spcAft>
                <a:spcPts val="600"/>
              </a:spcAft>
            </a:pPr>
            <a:r>
              <a:rPr sz="1700" b="0" lang="ar-BH">
                <a:solidFill>
                  <a:srgbClr val="EAF6FF"/>
                </a:solidFill>
                <a:latin typeface="Tajawal"/>
                <a:cs typeface="Tajawal"/>
              </a:rPr>
              <a:t>مراجعة المحامي للاتفاقية.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l">
              <a:spcAft>
                <a:spcPts val="600"/>
              </a:spcAft>
            </a:pPr>
            <a:r>
              <a:rPr sz="1100" b="0" lang="ar-BH">
                <a:solidFill>
                  <a:srgbClr val="93A7BB"/>
                </a:solidFill>
                <a:latin typeface="Tajawal"/>
                <a:cs typeface="Tajawal"/>
              </a:rPr>
              <a:t>Sports Hub · قيد التطوير · نسخة تجريبية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l">
              <a:spcAft>
                <a:spcPts val="600"/>
              </a:spcAft>
            </a:pPr>
            <a:r>
              <a:rPr sz="1100" b="0" lang="ar-BH">
                <a:solidFill>
                  <a:srgbClr val="93A7BB"/>
                </a:solidFill>
                <a:latin typeface="Tajawal"/>
                <a:cs typeface="Tajaw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686032" y="475488"/>
            <a:ext cx="82296" cy="5669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84048"/>
            <a:ext cx="1065276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3400" b="1" lang="ar-BH">
                <a:solidFill>
                  <a:srgbClr val="EAF6FF"/>
                </a:solidFill>
                <a:latin typeface="Tajawal"/>
                <a:cs typeface="Tajawal"/>
              </a:rPr>
              <a:t>رأيك يهمنا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83879" y="1737360"/>
            <a:ext cx="3520440" cy="3017520"/>
          </a:xfrm>
          <a:prstGeom prst="roundRect">
            <a:avLst>
              <a:gd name="adj" fmla="val 6000"/>
            </a:avLst>
          </a:prstGeom>
          <a:solidFill>
            <a:srgbClr val="0A1220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66759" y="1920240"/>
            <a:ext cx="31546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200" b="1" lang="ar-BH">
                <a:solidFill>
                  <a:srgbClr val="00E5FF"/>
                </a:solidFill>
                <a:latin typeface="Tajawal"/>
                <a:cs typeface="Tajawal"/>
              </a:rPr>
              <a:t>وش أول شي تحتاجه؟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59" y="2514600"/>
            <a:ext cx="315468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700" b="0" lang="ar-BH">
                <a:solidFill>
                  <a:srgbClr val="EAF6FF"/>
                </a:solidFill>
                <a:latin typeface="Tajawal"/>
                <a:cs typeface="Tajawal"/>
              </a:rPr>
              <a:t>اللي لو توفّر بالتطبيق تستخدمه بكرة.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737360"/>
            <a:ext cx="3520440" cy="3017520"/>
          </a:xfrm>
          <a:prstGeom prst="roundRect">
            <a:avLst>
              <a:gd name="adj" fmla="val 6000"/>
            </a:avLst>
          </a:prstGeom>
          <a:solidFill>
            <a:srgbClr val="0A1220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920240"/>
            <a:ext cx="31546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200" b="1" lang="ar-BH">
                <a:solidFill>
                  <a:srgbClr val="00E5FF"/>
                </a:solidFill>
                <a:latin typeface="Tajawal"/>
                <a:cs typeface="Tajawal"/>
              </a:rPr>
              <a:t>شنو ما فهمته؟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514600"/>
            <a:ext cx="315468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700" b="0" lang="ar-BH">
                <a:solidFill>
                  <a:srgbClr val="EAF6FF"/>
                </a:solidFill>
                <a:latin typeface="Tajawal"/>
                <a:cs typeface="Tajawal"/>
              </a:rPr>
              <a:t>أي شاشة أو كلمة احتجت تسأل عنها.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37360"/>
            <a:ext cx="3520440" cy="3017520"/>
          </a:xfrm>
          <a:prstGeom prst="roundRect">
            <a:avLst>
              <a:gd name="adj" fmla="val 6000"/>
            </a:avLst>
          </a:prstGeom>
          <a:solidFill>
            <a:srgbClr val="0A1220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20240"/>
            <a:ext cx="31546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2200" b="1" lang="ar-BH">
                <a:solidFill>
                  <a:srgbClr val="00E5FF"/>
                </a:solidFill>
                <a:latin typeface="Tajawal"/>
                <a:cs typeface="Tajawal"/>
              </a:rPr>
              <a:t>شنو يضيّع وقتك اليوم؟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14600"/>
            <a:ext cx="315468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700" b="0" lang="ar-BH">
                <a:solidFill>
                  <a:srgbClr val="EAF6FF"/>
                </a:solidFill>
                <a:latin typeface="Tajawal"/>
                <a:cs typeface="Tajawal"/>
              </a:rPr>
              <a:t>وما غطّيناه: قل لنا حتى لو ما ينفع للتطبيق.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74920"/>
            <a:ext cx="106527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ctr">
              <a:spcAft>
                <a:spcPts val="600"/>
              </a:spcAft>
            </a:pPr>
            <a:r>
              <a:rPr sz="2400" b="0" lang="ar-BH">
                <a:solidFill>
                  <a:srgbClr val="EAF6FF"/>
                </a:solidFill>
                <a:latin typeface="Tajawal"/>
                <a:cs typeface="Tajawal"/>
              </a:rPr>
              <a:t>ما نبيع شي. نبي نفهم شغلك قبل ما نبني أكثر.</a:t>
            </a:r>
          </a:p>
          <a:p>
            <a:pPr rtl="1" algn="ctr">
              <a:spcAft>
                <a:spcPts val="600"/>
              </a:spcAft>
            </a:pPr>
            <a:r>
              <a:rPr sz="2400" b="0" lang="ar-BH">
                <a:solidFill>
                  <a:srgbClr val="93A7BB"/>
                </a:solidFill>
                <a:latin typeface="Tajawal"/>
                <a:cs typeface="Tajawal"/>
              </a:rPr>
              <a:t>وإذا ما يناسبك، قل لنا بكل أريحية.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5943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l">
              <a:spcAft>
                <a:spcPts val="600"/>
              </a:spcAft>
            </a:pPr>
            <a:r>
              <a:rPr sz="1100" b="0" lang="ar-BH">
                <a:solidFill>
                  <a:srgbClr val="93A7BB"/>
                </a:solidFill>
                <a:latin typeface="Tajawal"/>
                <a:cs typeface="Tajawal"/>
              </a:rPr>
              <a:t>Sports Hub · قيد التطوير · نسخة تجريبية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l">
              <a:spcAft>
                <a:spcPts val="600"/>
              </a:spcAft>
            </a:pPr>
            <a:r>
              <a:rPr sz="1100" b="0" lang="ar-BH">
                <a:solidFill>
                  <a:srgbClr val="93A7BB"/>
                </a:solidFill>
                <a:latin typeface="Tajawal"/>
                <a:cs typeface="Tajawal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